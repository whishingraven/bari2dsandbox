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Free robots walk toward the gap. At the frontier they sense whether a new link is needed: if the gap is open right in front of them they join (ANCHOR at the bank edge or grip-and-extend); if the frontier is further ahead they cross (CLIMB, walk to the front end). Anchored robots sense the deficit through the load on their anchor (strain) and traffic over them. If neither is present for T steps they leave (RELEASE); otherwise they stay. Joining reduces the deficit (remaining gap, missing load capacity); leaving reduces the excess (redundant grips such as the side-by-side edge grips seen in v3).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11247120" cy="502920"/>
          </a:xfrm>
          <a:prstGeom prst="rect">
            <a:avLst/>
          </a:prstGeom>
          <a:noFill/>
          <a:ln/>
        </p:spPr>
        <p:txBody>
          <a:bodyPr wrap="square" lIns="0" tIns="0" rIns="0" bIns="0" rtlCol="0" anchor="t"/>
          <a:lstStyle/>
          <a:p>
            <a:pPr algn="l" indent="0" marL="0">
              <a:buNone/>
            </a:pPr>
            <a:r>
              <a:rPr lang="en-US" sz="3000" b="1" dirty="0">
                <a:solidFill>
                  <a:srgbClr val="111111"/>
                </a:solidFill>
                <a:latin typeface="Arial" pitchFamily="34" charset="0"/>
                <a:ea typeface="Arial" pitchFamily="34" charset="-122"/>
                <a:cs typeface="Arial" pitchFamily="34" charset="-120"/>
              </a:rPr>
              <a:t>Ant-Inspired Join/Leave Rule for BARI2D</a:t>
            </a:r>
            <a:endParaRPr lang="en-US" sz="3000" dirty="0"/>
          </a:p>
        </p:txBody>
      </p:sp>
      <p:sp>
        <p:nvSpPr>
          <p:cNvPr id="3" name="Text 1"/>
          <p:cNvSpPr txBox="1"/>
          <p:nvPr/>
        </p:nvSpPr>
        <p:spPr>
          <a:xfrm>
            <a:off x="457200" y="841248"/>
            <a:ext cx="11247120" cy="274320"/>
          </a:xfrm>
          <a:prstGeom prst="rect">
            <a:avLst/>
          </a:prstGeom>
          <a:noFill/>
          <a:ln/>
        </p:spPr>
        <p:txBody>
          <a:bodyPr wrap="square" lIns="0" tIns="0" rIns="0" bIns="0" rtlCol="0" anchor="t"/>
          <a:lstStyle/>
          <a:p>
            <a:pPr algn="l" indent="0" marL="0">
              <a:buNone/>
            </a:pPr>
            <a:r>
              <a:rPr lang="en-US" sz="1300" dirty="0">
                <a:solidFill>
                  <a:srgbClr val="6B6B6B"/>
                </a:solidFill>
                <a:latin typeface="Arial" pitchFamily="34" charset="0"/>
                <a:ea typeface="Arial" pitchFamily="34" charset="-122"/>
                <a:cs typeface="Arial" pitchFamily="34" charset="-120"/>
              </a:rPr>
              <a:t>Army-ant living-bridge feedback mapped onto BARI2D. Grey text: BARI2D observations and actions.</a:t>
            </a:r>
            <a:endParaRPr lang="en-US" sz="1300" dirty="0"/>
          </a:p>
        </p:txBody>
      </p:sp>
      <p:sp>
        <p:nvSpPr>
          <p:cNvPr id="4" name="Shape 2"/>
          <p:cNvSpPr/>
          <p:nvPr/>
        </p:nvSpPr>
        <p:spPr>
          <a:xfrm>
            <a:off x="457200" y="1325880"/>
            <a:ext cx="11274552" cy="2103120"/>
          </a:xfrm>
          <a:prstGeom prst="rect">
            <a:avLst/>
          </a:prstGeom>
          <a:solidFill>
            <a:srgbClr val="FFFFFF"/>
          </a:solidFill>
          <a:ln w="12700">
            <a:solidFill>
              <a:srgbClr val="8A8A8A"/>
            </a:solidFill>
            <a:prstDash val="dash"/>
          </a:ln>
        </p:spPr>
      </p:sp>
      <p:sp>
        <p:nvSpPr>
          <p:cNvPr id="5" name="Shape 3"/>
          <p:cNvSpPr/>
          <p:nvPr/>
        </p:nvSpPr>
        <p:spPr>
          <a:xfrm>
            <a:off x="457200" y="4297680"/>
            <a:ext cx="11274552" cy="2240280"/>
          </a:xfrm>
          <a:prstGeom prst="rect">
            <a:avLst/>
          </a:prstGeom>
          <a:solidFill>
            <a:srgbClr val="FFFFFF"/>
          </a:solidFill>
          <a:ln w="12700">
            <a:solidFill>
              <a:srgbClr val="8A8A8A"/>
            </a:solidFill>
            <a:prstDash val="dash"/>
          </a:ln>
        </p:spPr>
      </p:sp>
      <p:sp>
        <p:nvSpPr>
          <p:cNvPr id="6" name="Text 4"/>
          <p:cNvSpPr txBox="1"/>
          <p:nvPr/>
        </p:nvSpPr>
        <p:spPr>
          <a:xfrm>
            <a:off x="594360" y="1389888"/>
            <a:ext cx="5486400" cy="274320"/>
          </a:xfrm>
          <a:prstGeom prst="rect">
            <a:avLst/>
          </a:prstGeom>
          <a:noFill/>
          <a:ln/>
        </p:spPr>
        <p:txBody>
          <a:bodyPr wrap="square" lIns="0" tIns="0" rIns="0" bIns="0" rtlCol="0" anchor="t"/>
          <a:lstStyle/>
          <a:p>
            <a:pPr indent="0" marL="0">
              <a:buNone/>
            </a:pPr>
            <a:r>
              <a:rPr lang="en-US" sz="1500" i="1" dirty="0">
                <a:solidFill>
                  <a:srgbClr val="111111"/>
                </a:solidFill>
                <a:latin typeface="Arial" pitchFamily="34" charset="0"/>
                <a:ea typeface="Arial" pitchFamily="34" charset="-122"/>
                <a:cs typeface="Arial" pitchFamily="34" charset="-120"/>
              </a:rPr>
              <a:t>Potential joiners</a:t>
            </a:r>
            <a:pPr indent="0" marL="0">
              <a:buNone/>
            </a:pPr>
            <a:r>
              <a:rPr lang="en-US" sz="1200" i="1" dirty="0">
                <a:solidFill>
                  <a:srgbClr val="6B6B6B"/>
                </a:solidFill>
                <a:latin typeface="Arial" pitchFamily="34" charset="0"/>
                <a:ea typeface="Arial" pitchFamily="34" charset="-122"/>
                <a:cs typeface="Arial" pitchFamily="34" charset="-120"/>
              </a:rPr>
              <a:t>  — free robots (not anchored)</a:t>
            </a:r>
            <a:endParaRPr lang="en-US" sz="1500" dirty="0"/>
          </a:p>
        </p:txBody>
      </p:sp>
      <p:sp>
        <p:nvSpPr>
          <p:cNvPr id="7" name="Text 5"/>
          <p:cNvSpPr txBox="1"/>
          <p:nvPr/>
        </p:nvSpPr>
        <p:spPr>
          <a:xfrm>
            <a:off x="594360" y="6254496"/>
            <a:ext cx="5486400" cy="274320"/>
          </a:xfrm>
          <a:prstGeom prst="rect">
            <a:avLst/>
          </a:prstGeom>
          <a:noFill/>
          <a:ln/>
        </p:spPr>
        <p:txBody>
          <a:bodyPr wrap="square" lIns="0" tIns="0" rIns="0" bIns="0" rtlCol="0" anchor="t"/>
          <a:lstStyle/>
          <a:p>
            <a:pPr indent="0" marL="0">
              <a:buNone/>
            </a:pPr>
            <a:r>
              <a:rPr lang="en-US" sz="1500" i="1" dirty="0">
                <a:solidFill>
                  <a:srgbClr val="111111"/>
                </a:solidFill>
                <a:latin typeface="Arial" pitchFamily="34" charset="0"/>
                <a:ea typeface="Arial" pitchFamily="34" charset="-122"/>
                <a:cs typeface="Arial" pitchFamily="34" charset="-120"/>
              </a:rPr>
              <a:t>Potential leavers</a:t>
            </a:r>
            <a:pPr indent="0" marL="0">
              <a:buNone/>
            </a:pPr>
            <a:r>
              <a:rPr lang="en-US" sz="1200" i="1" dirty="0">
                <a:solidFill>
                  <a:srgbClr val="6B6B6B"/>
                </a:solidFill>
                <a:latin typeface="Arial" pitchFamily="34" charset="0"/>
                <a:ea typeface="Arial" pitchFamily="34" charset="-122"/>
                <a:cs typeface="Arial" pitchFamily="34" charset="-120"/>
              </a:rPr>
              <a:t>  — anchored robots</a:t>
            </a:r>
            <a:endParaRPr lang="en-US" sz="1500" dirty="0"/>
          </a:p>
        </p:txBody>
      </p:sp>
      <p:sp>
        <p:nvSpPr>
          <p:cNvPr id="8" name="Text 6"/>
          <p:cNvSpPr txBox="1"/>
          <p:nvPr/>
        </p:nvSpPr>
        <p:spPr>
          <a:xfrm>
            <a:off x="640080" y="2148840"/>
            <a:ext cx="1645920" cy="886968"/>
          </a:xfrm>
          <a:prstGeom prst="rect">
            <a:avLst/>
          </a:prstGeom>
          <a:noFill/>
          <a:ln/>
        </p:spPr>
        <p:txBody>
          <a:bodyPr wrap="square" lIns="0" tIns="0" rIns="0" bIns="0" rtlCol="0" anchor="t"/>
          <a:lstStyle/>
          <a:p>
            <a:pPr indent="0" marL="0">
              <a:buNone/>
            </a:pPr>
            <a:r>
              <a:rPr lang="en-US" sz="1500" dirty="0">
                <a:solidFill>
                  <a:srgbClr val="111111"/>
                </a:solidFill>
                <a:latin typeface="Arial" pitchFamily="34" charset="0"/>
                <a:ea typeface="Arial" pitchFamily="34" charset="-122"/>
                <a:cs typeface="Arial" pitchFamily="34" charset="-120"/>
              </a:rPr>
              <a:t>Walk on bank</a:t>
            </a:r>
            <a:endParaRPr lang="en-US" sz="1500" dirty="0"/>
          </a:p>
          <a:p>
            <a:pPr indent="0" marL="0">
              <a:buNone/>
            </a:pPr>
            <a:r>
              <a:rPr lang="en-US" sz="1500" dirty="0">
                <a:solidFill>
                  <a:srgbClr val="111111"/>
                </a:solidFill>
                <a:latin typeface="Arial" pitchFamily="34" charset="0"/>
                <a:ea typeface="Arial" pitchFamily="34" charset="-122"/>
                <a:cs typeface="Arial" pitchFamily="34" charset="-120"/>
              </a:rPr>
              <a:t>or structure</a:t>
            </a:r>
            <a:endParaRPr lang="en-US" sz="1500" dirty="0"/>
          </a:p>
          <a:p>
            <a:pPr indent="0" marL="0">
              <a:buNone/>
            </a:pPr>
            <a:r>
              <a:rPr lang="en-US" sz="1100" dirty="0">
                <a:solidFill>
                  <a:srgbClr val="6B6B6B"/>
                </a:solidFill>
                <a:latin typeface="Arial" pitchFamily="34" charset="0"/>
                <a:ea typeface="Arial" pitchFamily="34" charset="-122"/>
                <a:cs typeface="Arial" pitchFamily="34" charset="-120"/>
              </a:rPr>
              <a:t>follow beacon</a:t>
            </a:r>
            <a:endParaRPr lang="en-US" sz="1500" dirty="0"/>
          </a:p>
          <a:p>
            <a:pPr indent="0" marL="0">
              <a:buNone/>
            </a:pPr>
            <a:r>
              <a:rPr lang="en-US" sz="1100" dirty="0">
                <a:solidFill>
                  <a:srgbClr val="6B6B6B"/>
                </a:solidFill>
                <a:latin typeface="Arial" pitchFamily="34" charset="0"/>
                <a:ea typeface="Arial" pitchFamily="34" charset="-122"/>
                <a:cs typeface="Arial" pitchFamily="34" charset="-120"/>
              </a:rPr>
              <a:t>FORWARD / turn</a:t>
            </a:r>
            <a:endParaRPr lang="en-US" sz="1500" dirty="0"/>
          </a:p>
        </p:txBody>
      </p:sp>
      <p:sp>
        <p:nvSpPr>
          <p:cNvPr id="9" name="Shape 7"/>
          <p:cNvSpPr/>
          <p:nvPr/>
        </p:nvSpPr>
        <p:spPr>
          <a:xfrm>
            <a:off x="2240280" y="2377440"/>
            <a:ext cx="457200" cy="0"/>
          </a:xfrm>
          <a:prstGeom prst="line">
            <a:avLst/>
          </a:prstGeom>
          <a:noFill/>
          <a:ln w="19050">
            <a:solidFill>
              <a:srgbClr val="111111"/>
            </a:solidFill>
            <a:prstDash val="solid"/>
            <a:tailEnd type="triangle"/>
          </a:ln>
        </p:spPr>
      </p:sp>
      <p:sp>
        <p:nvSpPr>
          <p:cNvPr id="10" name="Text 8"/>
          <p:cNvSpPr txBox="1"/>
          <p:nvPr/>
        </p:nvSpPr>
        <p:spPr>
          <a:xfrm>
            <a:off x="2788920" y="2148840"/>
            <a:ext cx="2103120" cy="886968"/>
          </a:xfrm>
          <a:prstGeom prst="rect">
            <a:avLst/>
          </a:prstGeom>
          <a:noFill/>
          <a:ln/>
        </p:spPr>
        <p:txBody>
          <a:bodyPr wrap="square" lIns="0" tIns="0" rIns="0" bIns="0" rtlCol="0" anchor="t"/>
          <a:lstStyle/>
          <a:p>
            <a:pPr indent="0" marL="0">
              <a:buNone/>
            </a:pPr>
            <a:r>
              <a:rPr lang="en-US" sz="1500" dirty="0">
                <a:solidFill>
                  <a:srgbClr val="111111"/>
                </a:solidFill>
                <a:latin typeface="Arial" pitchFamily="34" charset="0"/>
                <a:ea typeface="Arial" pitchFamily="34" charset="-122"/>
                <a:cs typeface="Arial" pitchFamily="34" charset="-120"/>
              </a:rPr>
              <a:t>At the frontier?</a:t>
            </a:r>
            <a:endParaRPr lang="en-US" sz="1500" dirty="0"/>
          </a:p>
          <a:p>
            <a:pPr indent="0" marL="0">
              <a:buNone/>
            </a:pPr>
            <a:r>
              <a:rPr lang="en-US" sz="1500" dirty="0">
                <a:solidFill>
                  <a:srgbClr val="111111"/>
                </a:solidFill>
                <a:latin typeface="Arial" pitchFamily="34" charset="0"/>
                <a:ea typeface="Arial" pitchFamily="34" charset="-122"/>
                <a:cs typeface="Arial" pitchFamily="34" charset="-120"/>
              </a:rPr>
              <a:t>Sense need</a:t>
            </a:r>
            <a:endParaRPr lang="en-US" sz="1500" dirty="0"/>
          </a:p>
          <a:p>
            <a:pPr indent="0" marL="0">
              <a:buNone/>
            </a:pPr>
            <a:r>
              <a:rPr lang="en-US" sz="1100" dirty="0">
                <a:solidFill>
                  <a:srgbClr val="6B6B6B"/>
                </a:solidFill>
                <a:latin typeface="Arial" pitchFamily="34" charset="0"/>
                <a:ea typeface="Arial" pitchFamily="34" charset="-122"/>
                <a:cs typeface="Arial" pitchFamily="34" charset="-120"/>
              </a:rPr>
              <a:t>front / down IR: gap ahead</a:t>
            </a:r>
            <a:endParaRPr lang="en-US" sz="1500" dirty="0"/>
          </a:p>
          <a:p>
            <a:pPr indent="0" marL="0">
              <a:buNone/>
            </a:pPr>
            <a:r>
              <a:rPr lang="en-US" sz="1100" dirty="0">
                <a:solidFill>
                  <a:srgbClr val="6B6B6B"/>
                </a:solidFill>
                <a:latin typeface="Arial" pitchFamily="34" charset="0"/>
                <a:ea typeface="Arial" pitchFamily="34" charset="-122"/>
                <a:cs typeface="Arial" pitchFamily="34" charset="-120"/>
              </a:rPr>
              <a:t>cue: robot ahead anchored</a:t>
            </a:r>
            <a:endParaRPr lang="en-US" sz="1500" dirty="0"/>
          </a:p>
        </p:txBody>
      </p:sp>
      <p:sp>
        <p:nvSpPr>
          <p:cNvPr id="11" name="Shape 9"/>
          <p:cNvSpPr/>
          <p:nvPr/>
        </p:nvSpPr>
        <p:spPr>
          <a:xfrm>
            <a:off x="4892040" y="2450592"/>
            <a:ext cx="164592" cy="0"/>
          </a:xfrm>
          <a:prstGeom prst="line">
            <a:avLst/>
          </a:prstGeom>
          <a:noFill/>
          <a:ln w="19050">
            <a:solidFill>
              <a:srgbClr val="111111"/>
            </a:solidFill>
            <a:prstDash val="solid"/>
          </a:ln>
        </p:spPr>
      </p:sp>
      <p:sp>
        <p:nvSpPr>
          <p:cNvPr id="12" name="Shape 10"/>
          <p:cNvSpPr/>
          <p:nvPr/>
        </p:nvSpPr>
        <p:spPr>
          <a:xfrm flipV="1">
            <a:off x="5056632" y="2011680"/>
            <a:ext cx="521208" cy="438912"/>
          </a:xfrm>
          <a:prstGeom prst="line">
            <a:avLst/>
          </a:prstGeom>
          <a:noFill/>
          <a:ln w="19050">
            <a:solidFill>
              <a:srgbClr val="111111"/>
            </a:solidFill>
            <a:prstDash val="solid"/>
            <a:tailEnd type="triangle"/>
          </a:ln>
        </p:spPr>
      </p:sp>
      <p:sp>
        <p:nvSpPr>
          <p:cNvPr id="13" name="Shape 11"/>
          <p:cNvSpPr/>
          <p:nvPr/>
        </p:nvSpPr>
        <p:spPr>
          <a:xfrm>
            <a:off x="5056632" y="2450592"/>
            <a:ext cx="521208" cy="384048"/>
          </a:xfrm>
          <a:prstGeom prst="line">
            <a:avLst/>
          </a:prstGeom>
          <a:noFill/>
          <a:ln w="19050">
            <a:solidFill>
              <a:srgbClr val="111111"/>
            </a:solidFill>
            <a:prstDash val="solid"/>
            <a:tailEnd type="triangle"/>
          </a:ln>
        </p:spPr>
      </p:sp>
      <p:sp>
        <p:nvSpPr>
          <p:cNvPr id="14" name="Text 12"/>
          <p:cNvSpPr txBox="1"/>
          <p:nvPr/>
        </p:nvSpPr>
        <p:spPr>
          <a:xfrm>
            <a:off x="5669280" y="1874520"/>
            <a:ext cx="2286000" cy="466344"/>
          </a:xfrm>
          <a:prstGeom prst="rect">
            <a:avLst/>
          </a:prstGeom>
          <a:noFill/>
          <a:ln/>
        </p:spPr>
        <p:txBody>
          <a:bodyPr wrap="square" lIns="0" tIns="0" rIns="0" bIns="0" rtlCol="0" anchor="t"/>
          <a:lstStyle/>
          <a:p>
            <a:pPr indent="0" marL="0">
              <a:buNone/>
            </a:pPr>
            <a:r>
              <a:rPr lang="en-US" sz="1500" dirty="0">
                <a:solidFill>
                  <a:srgbClr val="111111"/>
                </a:solidFill>
                <a:latin typeface="Arial" pitchFamily="34" charset="0"/>
                <a:ea typeface="Arial" pitchFamily="34" charset="-122"/>
                <a:cs typeface="Arial" pitchFamily="34" charset="-120"/>
              </a:rPr>
              <a:t>low</a:t>
            </a:r>
            <a:endParaRPr lang="en-US" sz="1500" dirty="0"/>
          </a:p>
          <a:p>
            <a:pPr indent="0" marL="0">
              <a:buNone/>
            </a:pPr>
            <a:r>
              <a:rPr lang="en-US" sz="1100" dirty="0">
                <a:solidFill>
                  <a:srgbClr val="6B6B6B"/>
                </a:solidFill>
                <a:latin typeface="Arial" pitchFamily="34" charset="0"/>
                <a:ea typeface="Arial" pitchFamily="34" charset="-122"/>
                <a:cs typeface="Arial" pitchFamily="34" charset="-120"/>
              </a:rPr>
              <a:t>(frontier is further ahead)</a:t>
            </a:r>
            <a:endParaRPr lang="en-US" sz="1500" dirty="0"/>
          </a:p>
        </p:txBody>
      </p:sp>
      <p:sp>
        <p:nvSpPr>
          <p:cNvPr id="15" name="Text 13"/>
          <p:cNvSpPr txBox="1"/>
          <p:nvPr/>
        </p:nvSpPr>
        <p:spPr>
          <a:xfrm>
            <a:off x="5669280" y="2697480"/>
            <a:ext cx="2286000" cy="466344"/>
          </a:xfrm>
          <a:prstGeom prst="rect">
            <a:avLst/>
          </a:prstGeom>
          <a:noFill/>
          <a:ln/>
        </p:spPr>
        <p:txBody>
          <a:bodyPr wrap="square" lIns="0" tIns="0" rIns="0" bIns="0" rtlCol="0" anchor="t"/>
          <a:lstStyle/>
          <a:p>
            <a:pPr indent="0" marL="0">
              <a:buNone/>
            </a:pPr>
            <a:r>
              <a:rPr lang="en-US" sz="1500" dirty="0">
                <a:solidFill>
                  <a:srgbClr val="111111"/>
                </a:solidFill>
                <a:latin typeface="Arial" pitchFamily="34" charset="0"/>
                <a:ea typeface="Arial" pitchFamily="34" charset="-122"/>
                <a:cs typeface="Arial" pitchFamily="34" charset="-120"/>
              </a:rPr>
              <a:t>high</a:t>
            </a:r>
            <a:endParaRPr lang="en-US" sz="1500" dirty="0"/>
          </a:p>
          <a:p>
            <a:pPr indent="0" marL="0">
              <a:buNone/>
            </a:pPr>
            <a:r>
              <a:rPr lang="en-US" sz="1100" dirty="0">
                <a:solidFill>
                  <a:srgbClr val="6B6B6B"/>
                </a:solidFill>
                <a:latin typeface="Arial" pitchFamily="34" charset="0"/>
                <a:ea typeface="Arial" pitchFamily="34" charset="-122"/>
                <a:cs typeface="Arial" pitchFamily="34" charset="-120"/>
              </a:rPr>
              <a:t>(gap open right in front of me)</a:t>
            </a:r>
            <a:endParaRPr lang="en-US" sz="1500" dirty="0"/>
          </a:p>
        </p:txBody>
      </p:sp>
      <p:sp>
        <p:nvSpPr>
          <p:cNvPr id="16" name="Shape 14"/>
          <p:cNvSpPr/>
          <p:nvPr/>
        </p:nvSpPr>
        <p:spPr>
          <a:xfrm>
            <a:off x="8001000" y="2103120"/>
            <a:ext cx="411480" cy="0"/>
          </a:xfrm>
          <a:prstGeom prst="line">
            <a:avLst/>
          </a:prstGeom>
          <a:noFill/>
          <a:ln w="19050">
            <a:solidFill>
              <a:srgbClr val="111111"/>
            </a:solidFill>
            <a:prstDash val="solid"/>
            <a:tailEnd type="triangle"/>
          </a:ln>
        </p:spPr>
      </p:sp>
      <p:sp>
        <p:nvSpPr>
          <p:cNvPr id="17" name="Shape 15"/>
          <p:cNvSpPr/>
          <p:nvPr/>
        </p:nvSpPr>
        <p:spPr>
          <a:xfrm>
            <a:off x="8001000" y="2926080"/>
            <a:ext cx="411480" cy="0"/>
          </a:xfrm>
          <a:prstGeom prst="line">
            <a:avLst/>
          </a:prstGeom>
          <a:noFill/>
          <a:ln w="19050">
            <a:solidFill>
              <a:srgbClr val="111111"/>
            </a:solidFill>
            <a:prstDash val="solid"/>
            <a:tailEnd type="triangle"/>
          </a:ln>
        </p:spPr>
      </p:sp>
      <p:sp>
        <p:nvSpPr>
          <p:cNvPr id="18" name="Text 16"/>
          <p:cNvSpPr txBox="1"/>
          <p:nvPr/>
        </p:nvSpPr>
        <p:spPr>
          <a:xfrm>
            <a:off x="8503920" y="1874520"/>
            <a:ext cx="2377440" cy="649224"/>
          </a:xfrm>
          <a:prstGeom prst="rect">
            <a:avLst/>
          </a:prstGeom>
          <a:noFill/>
          <a:ln/>
        </p:spPr>
        <p:txBody>
          <a:bodyPr wrap="square" lIns="0" tIns="0" rIns="0" bIns="0" rtlCol="0" anchor="t"/>
          <a:lstStyle/>
          <a:p>
            <a:pPr indent="0" marL="0">
              <a:buNone/>
            </a:pPr>
            <a:r>
              <a:rPr lang="en-US" sz="1500" dirty="0">
                <a:solidFill>
                  <a:srgbClr val="111111"/>
                </a:solidFill>
                <a:latin typeface="Arial" pitchFamily="34" charset="0"/>
                <a:ea typeface="Arial" pitchFamily="34" charset="-122"/>
                <a:cs typeface="Arial" pitchFamily="34" charset="-120"/>
              </a:rPr>
              <a:t>Cross, do not join</a:t>
            </a:r>
            <a:endParaRPr lang="en-US" sz="1500" dirty="0"/>
          </a:p>
          <a:p>
            <a:pPr indent="0" marL="0">
              <a:buNone/>
            </a:pPr>
            <a:r>
              <a:rPr lang="en-US" sz="1100" dirty="0">
                <a:solidFill>
                  <a:srgbClr val="6B6B6B"/>
                </a:solidFill>
                <a:latin typeface="Arial" pitchFamily="34" charset="0"/>
                <a:ea typeface="Arial" pitchFamily="34" charset="-122"/>
                <a:cs typeface="Arial" pitchFamily="34" charset="-120"/>
              </a:rPr>
              <a:t>CLIMB onto the anchored robot,</a:t>
            </a:r>
            <a:endParaRPr lang="en-US" sz="1500" dirty="0"/>
          </a:p>
          <a:p>
            <a:pPr indent="0" marL="0">
              <a:buNone/>
            </a:pPr>
            <a:r>
              <a:rPr lang="en-US" sz="1100" dirty="0">
                <a:solidFill>
                  <a:srgbClr val="6B6B6B"/>
                </a:solidFill>
                <a:latin typeface="Arial" pitchFamily="34" charset="0"/>
                <a:ea typeface="Arial" pitchFamily="34" charset="-122"/>
                <a:cs typeface="Arial" pitchFamily="34" charset="-120"/>
              </a:rPr>
              <a:t>FORWARD to its front end</a:t>
            </a:r>
            <a:endParaRPr lang="en-US" sz="1500" dirty="0"/>
          </a:p>
        </p:txBody>
      </p:sp>
      <p:sp>
        <p:nvSpPr>
          <p:cNvPr id="19" name="Text 17"/>
          <p:cNvSpPr txBox="1"/>
          <p:nvPr/>
        </p:nvSpPr>
        <p:spPr>
          <a:xfrm>
            <a:off x="8503920" y="2697480"/>
            <a:ext cx="2377440" cy="649224"/>
          </a:xfrm>
          <a:prstGeom prst="rect">
            <a:avLst/>
          </a:prstGeom>
          <a:noFill/>
          <a:ln/>
        </p:spPr>
        <p:txBody>
          <a:bodyPr wrap="square" lIns="0" tIns="0" rIns="0" bIns="0" rtlCol="0" anchor="t"/>
          <a:lstStyle/>
          <a:p>
            <a:pPr indent="0" marL="0">
              <a:buNone/>
            </a:pPr>
            <a:r>
              <a:rPr lang="en-US" sz="1500" b="1" dirty="0">
                <a:solidFill>
                  <a:srgbClr val="111111"/>
                </a:solidFill>
                <a:latin typeface="Arial" pitchFamily="34" charset="0"/>
                <a:ea typeface="Arial" pitchFamily="34" charset="-122"/>
                <a:cs typeface="Arial" pitchFamily="34" charset="-120"/>
              </a:rPr>
              <a:t>Join</a:t>
            </a:r>
            <a:endParaRPr lang="en-US" sz="1500" dirty="0"/>
          </a:p>
          <a:p>
            <a:pPr indent="0" marL="0">
              <a:buNone/>
            </a:pPr>
            <a:r>
              <a:rPr lang="en-US" sz="1100" dirty="0">
                <a:solidFill>
                  <a:srgbClr val="6B6B6B"/>
                </a:solidFill>
                <a:latin typeface="Arial" pitchFamily="34" charset="0"/>
                <a:ea typeface="Arial" pitchFamily="34" charset="-122"/>
                <a:cs typeface="Arial" pitchFamily="34" charset="-120"/>
              </a:rPr>
              <a:t>ANCHOR: grip the bank edge</a:t>
            </a:r>
            <a:endParaRPr lang="en-US" sz="1500" dirty="0"/>
          </a:p>
          <a:p>
            <a:pPr indent="0" marL="0">
              <a:buNone/>
            </a:pPr>
            <a:r>
              <a:rPr lang="en-US" sz="1100" dirty="0">
                <a:solidFill>
                  <a:srgbClr val="6B6B6B"/>
                </a:solidFill>
                <a:latin typeface="Arial" pitchFamily="34" charset="0"/>
                <a:ea typeface="Arial" pitchFamily="34" charset="-122"/>
                <a:cs typeface="Arial" pitchFamily="34" charset="-120"/>
              </a:rPr>
              <a:t>or grip-and-extend</a:t>
            </a:r>
            <a:endParaRPr lang="en-US" sz="1500" dirty="0"/>
          </a:p>
        </p:txBody>
      </p:sp>
      <p:sp>
        <p:nvSpPr>
          <p:cNvPr id="20" name="Shape 18"/>
          <p:cNvSpPr/>
          <p:nvPr/>
        </p:nvSpPr>
        <p:spPr>
          <a:xfrm>
            <a:off x="10835640" y="2103120"/>
            <a:ext cx="411480" cy="0"/>
          </a:xfrm>
          <a:prstGeom prst="line">
            <a:avLst/>
          </a:prstGeom>
          <a:noFill/>
          <a:ln w="19050">
            <a:solidFill>
              <a:srgbClr val="111111"/>
            </a:solidFill>
            <a:prstDash val="solid"/>
          </a:ln>
        </p:spPr>
      </p:sp>
      <p:sp>
        <p:nvSpPr>
          <p:cNvPr id="21" name="Shape 19"/>
          <p:cNvSpPr/>
          <p:nvPr/>
        </p:nvSpPr>
        <p:spPr>
          <a:xfrm flipV="1">
            <a:off x="11247120" y="1783080"/>
            <a:ext cx="0" cy="320040"/>
          </a:xfrm>
          <a:prstGeom prst="line">
            <a:avLst/>
          </a:prstGeom>
          <a:noFill/>
          <a:ln w="19050">
            <a:solidFill>
              <a:srgbClr val="111111"/>
            </a:solidFill>
            <a:prstDash val="solid"/>
          </a:ln>
        </p:spPr>
      </p:sp>
      <p:sp>
        <p:nvSpPr>
          <p:cNvPr id="22" name="Shape 20"/>
          <p:cNvSpPr/>
          <p:nvPr/>
        </p:nvSpPr>
        <p:spPr>
          <a:xfrm flipH="1">
            <a:off x="868680" y="1783080"/>
            <a:ext cx="10378440" cy="0"/>
          </a:xfrm>
          <a:prstGeom prst="line">
            <a:avLst/>
          </a:prstGeom>
          <a:noFill/>
          <a:ln w="19050">
            <a:solidFill>
              <a:srgbClr val="111111"/>
            </a:solidFill>
            <a:prstDash val="solid"/>
          </a:ln>
        </p:spPr>
      </p:sp>
      <p:sp>
        <p:nvSpPr>
          <p:cNvPr id="23" name="Shape 21"/>
          <p:cNvSpPr/>
          <p:nvPr/>
        </p:nvSpPr>
        <p:spPr>
          <a:xfrm>
            <a:off x="868680" y="1783080"/>
            <a:ext cx="0" cy="320040"/>
          </a:xfrm>
          <a:prstGeom prst="line">
            <a:avLst/>
          </a:prstGeom>
          <a:noFill/>
          <a:ln w="19050">
            <a:solidFill>
              <a:srgbClr val="111111"/>
            </a:solidFill>
            <a:prstDash val="solid"/>
            <a:tailEnd type="triangle"/>
          </a:ln>
        </p:spPr>
      </p:sp>
      <p:sp>
        <p:nvSpPr>
          <p:cNvPr id="24" name="Text 22"/>
          <p:cNvSpPr txBox="1"/>
          <p:nvPr/>
        </p:nvSpPr>
        <p:spPr>
          <a:xfrm>
            <a:off x="640080" y="4983480"/>
            <a:ext cx="1645920" cy="886968"/>
          </a:xfrm>
          <a:prstGeom prst="rect">
            <a:avLst/>
          </a:prstGeom>
          <a:noFill/>
          <a:ln/>
        </p:spPr>
        <p:txBody>
          <a:bodyPr wrap="square" lIns="0" tIns="0" rIns="0" bIns="0" rtlCol="0" anchor="t"/>
          <a:lstStyle/>
          <a:p>
            <a:pPr indent="0" marL="0">
              <a:buNone/>
            </a:pPr>
            <a:r>
              <a:rPr lang="en-US" sz="1500" dirty="0">
                <a:solidFill>
                  <a:srgbClr val="111111"/>
                </a:solidFill>
                <a:latin typeface="Arial" pitchFamily="34" charset="0"/>
                <a:ea typeface="Arial" pitchFamily="34" charset="-122"/>
                <a:cs typeface="Arial" pitchFamily="34" charset="-120"/>
              </a:rPr>
              <a:t>Be part of</a:t>
            </a:r>
            <a:endParaRPr lang="en-US" sz="1500" dirty="0"/>
          </a:p>
          <a:p>
            <a:pPr indent="0" marL="0">
              <a:buNone/>
            </a:pPr>
            <a:r>
              <a:rPr lang="en-US" sz="1500" dirty="0">
                <a:solidFill>
                  <a:srgbClr val="111111"/>
                </a:solidFill>
                <a:latin typeface="Arial" pitchFamily="34" charset="0"/>
                <a:ea typeface="Arial" pitchFamily="34" charset="-122"/>
                <a:cs typeface="Arial" pitchFamily="34" charset="-120"/>
              </a:rPr>
              <a:t>structure</a:t>
            </a:r>
            <a:endParaRPr lang="en-US" sz="1500" dirty="0"/>
          </a:p>
          <a:p>
            <a:pPr indent="0" marL="0">
              <a:buNone/>
            </a:pPr>
            <a:r>
              <a:rPr lang="en-US" sz="1100" dirty="0">
                <a:solidFill>
                  <a:srgbClr val="6B6B6B"/>
                </a:solidFill>
                <a:latin typeface="Arial" pitchFamily="34" charset="0"/>
                <a:ea typeface="Arial" pitchFamily="34" charset="-122"/>
                <a:cs typeface="Arial" pitchFamily="34" charset="-120"/>
              </a:rPr>
              <a:t>anchored to bank</a:t>
            </a:r>
            <a:endParaRPr lang="en-US" sz="1500" dirty="0"/>
          </a:p>
          <a:p>
            <a:pPr indent="0" marL="0">
              <a:buNone/>
            </a:pPr>
            <a:r>
              <a:rPr lang="en-US" sz="1100" dirty="0">
                <a:solidFill>
                  <a:srgbClr val="6B6B6B"/>
                </a:solidFill>
                <a:latin typeface="Arial" pitchFamily="34" charset="0"/>
                <a:ea typeface="Arial" pitchFamily="34" charset="-122"/>
                <a:cs typeface="Arial" pitchFamily="34" charset="-120"/>
              </a:rPr>
              <a:t>or to a robot</a:t>
            </a:r>
            <a:endParaRPr lang="en-US" sz="1500" dirty="0"/>
          </a:p>
        </p:txBody>
      </p:sp>
      <p:sp>
        <p:nvSpPr>
          <p:cNvPr id="25" name="Shape 23"/>
          <p:cNvSpPr/>
          <p:nvPr/>
        </p:nvSpPr>
        <p:spPr>
          <a:xfrm>
            <a:off x="2240280" y="5212080"/>
            <a:ext cx="457200" cy="0"/>
          </a:xfrm>
          <a:prstGeom prst="line">
            <a:avLst/>
          </a:prstGeom>
          <a:noFill/>
          <a:ln w="19050">
            <a:solidFill>
              <a:srgbClr val="111111"/>
            </a:solidFill>
            <a:prstDash val="solid"/>
            <a:tailEnd type="triangle"/>
          </a:ln>
        </p:spPr>
      </p:sp>
      <p:sp>
        <p:nvSpPr>
          <p:cNvPr id="26" name="Text 24"/>
          <p:cNvSpPr txBox="1"/>
          <p:nvPr/>
        </p:nvSpPr>
        <p:spPr>
          <a:xfrm>
            <a:off x="2788920" y="4983480"/>
            <a:ext cx="2286000" cy="649224"/>
          </a:xfrm>
          <a:prstGeom prst="rect">
            <a:avLst/>
          </a:prstGeom>
          <a:noFill/>
          <a:ln/>
        </p:spPr>
        <p:txBody>
          <a:bodyPr wrap="square" lIns="0" tIns="0" rIns="0" bIns="0" rtlCol="0" anchor="t"/>
          <a:lstStyle/>
          <a:p>
            <a:pPr indent="0" marL="0">
              <a:buNone/>
            </a:pPr>
            <a:r>
              <a:rPr lang="en-US" sz="1500" dirty="0">
                <a:solidFill>
                  <a:srgbClr val="111111"/>
                </a:solidFill>
                <a:latin typeface="Arial" pitchFamily="34" charset="0"/>
                <a:ea typeface="Arial" pitchFamily="34" charset="-122"/>
                <a:cs typeface="Arial" pitchFamily="34" charset="-120"/>
              </a:rPr>
              <a:t>Sense deficit</a:t>
            </a:r>
            <a:endParaRPr lang="en-US" sz="1500" dirty="0"/>
          </a:p>
          <a:p>
            <a:pPr indent="0" marL="0">
              <a:buNone/>
            </a:pPr>
            <a:r>
              <a:rPr lang="en-US" sz="1100" dirty="0">
                <a:solidFill>
                  <a:srgbClr val="6B6B6B"/>
                </a:solidFill>
                <a:latin typeface="Arial" pitchFamily="34" charset="0"/>
                <a:ea typeface="Arial" pitchFamily="34" charset="-122"/>
                <a:cs typeface="Arial" pitchFamily="34" charset="-120"/>
              </a:rPr>
              <a:t>strain: load through my anchor</a:t>
            </a:r>
            <a:endParaRPr lang="en-US" sz="1500" dirty="0"/>
          </a:p>
          <a:p>
            <a:pPr indent="0" marL="0">
              <a:buNone/>
            </a:pPr>
            <a:r>
              <a:rPr lang="en-US" sz="1100" dirty="0">
                <a:solidFill>
                  <a:srgbClr val="6B6B6B"/>
                </a:solidFill>
                <a:latin typeface="Arial" pitchFamily="34" charset="0"/>
                <a:ea typeface="Arial" pitchFamily="34" charset="-122"/>
                <a:cs typeface="Arial" pitchFamily="34" charset="-120"/>
              </a:rPr>
              <a:t>traffic: robots moving over me</a:t>
            </a:r>
            <a:endParaRPr lang="en-US" sz="1500" dirty="0"/>
          </a:p>
        </p:txBody>
      </p:sp>
      <p:sp>
        <p:nvSpPr>
          <p:cNvPr id="27" name="Shape 25"/>
          <p:cNvSpPr/>
          <p:nvPr/>
        </p:nvSpPr>
        <p:spPr>
          <a:xfrm>
            <a:off x="5074920" y="5230368"/>
            <a:ext cx="164592" cy="0"/>
          </a:xfrm>
          <a:prstGeom prst="line">
            <a:avLst/>
          </a:prstGeom>
          <a:noFill/>
          <a:ln w="19050">
            <a:solidFill>
              <a:srgbClr val="111111"/>
            </a:solidFill>
            <a:prstDash val="solid"/>
          </a:ln>
        </p:spPr>
      </p:sp>
      <p:sp>
        <p:nvSpPr>
          <p:cNvPr id="28" name="Shape 26"/>
          <p:cNvSpPr/>
          <p:nvPr/>
        </p:nvSpPr>
        <p:spPr>
          <a:xfrm flipV="1">
            <a:off x="5239512" y="4846320"/>
            <a:ext cx="338328" cy="384048"/>
          </a:xfrm>
          <a:prstGeom prst="line">
            <a:avLst/>
          </a:prstGeom>
          <a:noFill/>
          <a:ln w="19050">
            <a:solidFill>
              <a:srgbClr val="111111"/>
            </a:solidFill>
            <a:prstDash val="solid"/>
            <a:tailEnd type="triangle"/>
          </a:ln>
        </p:spPr>
      </p:sp>
      <p:sp>
        <p:nvSpPr>
          <p:cNvPr id="29" name="Shape 27"/>
          <p:cNvSpPr/>
          <p:nvPr/>
        </p:nvSpPr>
        <p:spPr>
          <a:xfrm>
            <a:off x="5239512" y="5230368"/>
            <a:ext cx="338328" cy="484632"/>
          </a:xfrm>
          <a:prstGeom prst="line">
            <a:avLst/>
          </a:prstGeom>
          <a:noFill/>
          <a:ln w="19050">
            <a:solidFill>
              <a:srgbClr val="111111"/>
            </a:solidFill>
            <a:prstDash val="solid"/>
            <a:tailEnd type="triangle"/>
          </a:ln>
        </p:spPr>
      </p:sp>
      <p:sp>
        <p:nvSpPr>
          <p:cNvPr id="30" name="Text 28"/>
          <p:cNvSpPr txBox="1"/>
          <p:nvPr/>
        </p:nvSpPr>
        <p:spPr>
          <a:xfrm>
            <a:off x="5669280" y="4709160"/>
            <a:ext cx="2651760" cy="466344"/>
          </a:xfrm>
          <a:prstGeom prst="rect">
            <a:avLst/>
          </a:prstGeom>
          <a:noFill/>
          <a:ln/>
        </p:spPr>
        <p:txBody>
          <a:bodyPr wrap="square" lIns="0" tIns="0" rIns="0" bIns="0" rtlCol="0" anchor="t"/>
          <a:lstStyle/>
          <a:p>
            <a:pPr indent="0" marL="0">
              <a:buNone/>
            </a:pPr>
            <a:r>
              <a:rPr lang="en-US" sz="1500" dirty="0">
                <a:solidFill>
                  <a:srgbClr val="111111"/>
                </a:solidFill>
                <a:latin typeface="Arial" pitchFamily="34" charset="0"/>
                <a:ea typeface="Arial" pitchFamily="34" charset="-122"/>
                <a:cs typeface="Arial" pitchFamily="34" charset="-120"/>
              </a:rPr>
              <a:t>large excess</a:t>
            </a:r>
            <a:endParaRPr lang="en-US" sz="1500" dirty="0"/>
          </a:p>
          <a:p>
            <a:pPr indent="0" marL="0">
              <a:buNone/>
            </a:pPr>
            <a:r>
              <a:rPr lang="en-US" sz="1100" dirty="0">
                <a:solidFill>
                  <a:srgbClr val="6B6B6B"/>
                </a:solidFill>
                <a:latin typeface="Arial" pitchFamily="34" charset="0"/>
                <a:ea typeface="Arial" pitchFamily="34" charset="-122"/>
                <a:cs typeface="Arial" pitchFamily="34" charset="-120"/>
              </a:rPr>
              <a:t>(strain ≈ 0, no traffic for T steps)</a:t>
            </a:r>
            <a:endParaRPr lang="en-US" sz="1500" dirty="0"/>
          </a:p>
        </p:txBody>
      </p:sp>
      <p:sp>
        <p:nvSpPr>
          <p:cNvPr id="31" name="Text 29"/>
          <p:cNvSpPr txBox="1"/>
          <p:nvPr/>
        </p:nvSpPr>
        <p:spPr>
          <a:xfrm>
            <a:off x="5669280" y="5577840"/>
            <a:ext cx="2651760" cy="466344"/>
          </a:xfrm>
          <a:prstGeom prst="rect">
            <a:avLst/>
          </a:prstGeom>
          <a:noFill/>
          <a:ln/>
        </p:spPr>
        <p:txBody>
          <a:bodyPr wrap="square" lIns="0" tIns="0" rIns="0" bIns="0" rtlCol="0" anchor="t"/>
          <a:lstStyle/>
          <a:p>
            <a:pPr indent="0" marL="0">
              <a:buNone/>
            </a:pPr>
            <a:r>
              <a:rPr lang="en-US" sz="1500" dirty="0">
                <a:solidFill>
                  <a:srgbClr val="111111"/>
                </a:solidFill>
                <a:latin typeface="Arial" pitchFamily="34" charset="0"/>
                <a:ea typeface="Arial" pitchFamily="34" charset="-122"/>
                <a:cs typeface="Arial" pitchFamily="34" charset="-120"/>
              </a:rPr>
              <a:t>deficit or needed</a:t>
            </a:r>
            <a:endParaRPr lang="en-US" sz="1500" dirty="0"/>
          </a:p>
          <a:p>
            <a:pPr indent="0" marL="0">
              <a:buNone/>
            </a:pPr>
            <a:r>
              <a:rPr lang="en-US" sz="1100" dirty="0">
                <a:solidFill>
                  <a:srgbClr val="6B6B6B"/>
                </a:solidFill>
                <a:latin typeface="Arial" pitchFamily="34" charset="0"/>
                <a:ea typeface="Arial" pitchFamily="34" charset="-122"/>
                <a:cs typeface="Arial" pitchFamily="34" charset="-120"/>
              </a:rPr>
              <a:t>(load or traffic present)</a:t>
            </a:r>
            <a:endParaRPr lang="en-US" sz="1500" dirty="0"/>
          </a:p>
        </p:txBody>
      </p:sp>
      <p:sp>
        <p:nvSpPr>
          <p:cNvPr id="32" name="Shape 30"/>
          <p:cNvSpPr/>
          <p:nvPr/>
        </p:nvSpPr>
        <p:spPr>
          <a:xfrm>
            <a:off x="8366760" y="4937760"/>
            <a:ext cx="411480" cy="0"/>
          </a:xfrm>
          <a:prstGeom prst="line">
            <a:avLst/>
          </a:prstGeom>
          <a:noFill/>
          <a:ln w="19050">
            <a:solidFill>
              <a:srgbClr val="111111"/>
            </a:solidFill>
            <a:prstDash val="solid"/>
            <a:tailEnd type="triangle"/>
          </a:ln>
        </p:spPr>
      </p:sp>
      <p:sp>
        <p:nvSpPr>
          <p:cNvPr id="33" name="Shape 31"/>
          <p:cNvSpPr/>
          <p:nvPr/>
        </p:nvSpPr>
        <p:spPr>
          <a:xfrm>
            <a:off x="8366760" y="5806440"/>
            <a:ext cx="411480" cy="0"/>
          </a:xfrm>
          <a:prstGeom prst="line">
            <a:avLst/>
          </a:prstGeom>
          <a:noFill/>
          <a:ln w="19050">
            <a:solidFill>
              <a:srgbClr val="111111"/>
            </a:solidFill>
            <a:prstDash val="solid"/>
            <a:tailEnd type="triangle"/>
          </a:ln>
        </p:spPr>
      </p:sp>
      <p:sp>
        <p:nvSpPr>
          <p:cNvPr id="34" name="Text 32"/>
          <p:cNvSpPr txBox="1"/>
          <p:nvPr/>
        </p:nvSpPr>
        <p:spPr>
          <a:xfrm>
            <a:off x="8869680" y="4709160"/>
            <a:ext cx="1463040" cy="466344"/>
          </a:xfrm>
          <a:prstGeom prst="rect">
            <a:avLst/>
          </a:prstGeom>
          <a:noFill/>
          <a:ln/>
        </p:spPr>
        <p:txBody>
          <a:bodyPr wrap="square" lIns="0" tIns="0" rIns="0" bIns="0" rtlCol="0" anchor="t"/>
          <a:lstStyle/>
          <a:p>
            <a:pPr indent="0" marL="0">
              <a:buNone/>
            </a:pPr>
            <a:r>
              <a:rPr lang="en-US" sz="1500" b="1" dirty="0">
                <a:solidFill>
                  <a:srgbClr val="111111"/>
                </a:solidFill>
                <a:latin typeface="Arial" pitchFamily="34" charset="0"/>
                <a:ea typeface="Arial" pitchFamily="34" charset="-122"/>
                <a:cs typeface="Arial" pitchFamily="34" charset="-120"/>
              </a:rPr>
              <a:t>Leave</a:t>
            </a:r>
            <a:endParaRPr lang="en-US" sz="1500" dirty="0"/>
          </a:p>
          <a:p>
            <a:pPr indent="0" marL="0">
              <a:buNone/>
            </a:pPr>
            <a:r>
              <a:rPr lang="en-US" sz="1100" dirty="0">
                <a:solidFill>
                  <a:srgbClr val="6B6B6B"/>
                </a:solidFill>
                <a:latin typeface="Arial" pitchFamily="34" charset="0"/>
                <a:ea typeface="Arial" pitchFamily="34" charset="-122"/>
                <a:cs typeface="Arial" pitchFamily="34" charset="-120"/>
              </a:rPr>
              <a:t>RELEASE</a:t>
            </a:r>
            <a:endParaRPr lang="en-US" sz="1500" dirty="0"/>
          </a:p>
        </p:txBody>
      </p:sp>
      <p:sp>
        <p:nvSpPr>
          <p:cNvPr id="35" name="Text 33"/>
          <p:cNvSpPr txBox="1"/>
          <p:nvPr/>
        </p:nvSpPr>
        <p:spPr>
          <a:xfrm>
            <a:off x="8869680" y="5577840"/>
            <a:ext cx="1828800" cy="466344"/>
          </a:xfrm>
          <a:prstGeom prst="rect">
            <a:avLst/>
          </a:prstGeom>
          <a:noFill/>
          <a:ln/>
        </p:spPr>
        <p:txBody>
          <a:bodyPr wrap="square" lIns="0" tIns="0" rIns="0" bIns="0" rtlCol="0" anchor="t"/>
          <a:lstStyle/>
          <a:p>
            <a:pPr indent="0" marL="0">
              <a:buNone/>
            </a:pPr>
            <a:r>
              <a:rPr lang="en-US" sz="1500" dirty="0">
                <a:solidFill>
                  <a:srgbClr val="111111"/>
                </a:solidFill>
                <a:latin typeface="Arial" pitchFamily="34" charset="0"/>
                <a:ea typeface="Arial" pitchFamily="34" charset="-122"/>
                <a:cs typeface="Arial" pitchFamily="34" charset="-120"/>
              </a:rPr>
              <a:t>Stay</a:t>
            </a:r>
            <a:endParaRPr lang="en-US" sz="1500" dirty="0"/>
          </a:p>
          <a:p>
            <a:pPr indent="0" marL="0">
              <a:buNone/>
            </a:pPr>
            <a:r>
              <a:rPr lang="en-US" sz="1100" dirty="0">
                <a:solidFill>
                  <a:srgbClr val="6B6B6B"/>
                </a:solidFill>
                <a:latin typeface="Arial" pitchFamily="34" charset="0"/>
                <a:ea typeface="Arial" pitchFamily="34" charset="-122"/>
                <a:cs typeface="Arial" pitchFamily="34" charset="-120"/>
              </a:rPr>
              <a:t>keep the anchor (IDLE)</a:t>
            </a:r>
            <a:endParaRPr lang="en-US" sz="1500" dirty="0"/>
          </a:p>
        </p:txBody>
      </p:sp>
      <p:sp>
        <p:nvSpPr>
          <p:cNvPr id="36" name="Shape 34"/>
          <p:cNvSpPr/>
          <p:nvPr/>
        </p:nvSpPr>
        <p:spPr>
          <a:xfrm>
            <a:off x="10789920" y="5806440"/>
            <a:ext cx="457200" cy="0"/>
          </a:xfrm>
          <a:prstGeom prst="line">
            <a:avLst/>
          </a:prstGeom>
          <a:noFill/>
          <a:ln w="19050">
            <a:solidFill>
              <a:srgbClr val="111111"/>
            </a:solidFill>
            <a:prstDash val="solid"/>
          </a:ln>
        </p:spPr>
      </p:sp>
      <p:sp>
        <p:nvSpPr>
          <p:cNvPr id="37" name="Shape 35"/>
          <p:cNvSpPr/>
          <p:nvPr/>
        </p:nvSpPr>
        <p:spPr>
          <a:xfrm>
            <a:off x="11247120" y="5806440"/>
            <a:ext cx="0" cy="374904"/>
          </a:xfrm>
          <a:prstGeom prst="line">
            <a:avLst/>
          </a:prstGeom>
          <a:noFill/>
          <a:ln w="19050">
            <a:solidFill>
              <a:srgbClr val="111111"/>
            </a:solidFill>
            <a:prstDash val="solid"/>
          </a:ln>
        </p:spPr>
      </p:sp>
      <p:sp>
        <p:nvSpPr>
          <p:cNvPr id="38" name="Shape 36"/>
          <p:cNvSpPr/>
          <p:nvPr/>
        </p:nvSpPr>
        <p:spPr>
          <a:xfrm flipH="1">
            <a:off x="868680" y="6181344"/>
            <a:ext cx="10378440" cy="0"/>
          </a:xfrm>
          <a:prstGeom prst="line">
            <a:avLst/>
          </a:prstGeom>
          <a:noFill/>
          <a:ln w="19050">
            <a:solidFill>
              <a:srgbClr val="111111"/>
            </a:solidFill>
            <a:prstDash val="solid"/>
          </a:ln>
        </p:spPr>
      </p:sp>
      <p:sp>
        <p:nvSpPr>
          <p:cNvPr id="39" name="Shape 37"/>
          <p:cNvSpPr/>
          <p:nvPr/>
        </p:nvSpPr>
        <p:spPr>
          <a:xfrm flipV="1">
            <a:off x="868680" y="5870448"/>
            <a:ext cx="0" cy="310896"/>
          </a:xfrm>
          <a:prstGeom prst="line">
            <a:avLst/>
          </a:prstGeom>
          <a:noFill/>
          <a:ln w="19050">
            <a:solidFill>
              <a:srgbClr val="111111"/>
            </a:solidFill>
            <a:prstDash val="solid"/>
            <a:tailEnd type="triangle"/>
          </a:ln>
        </p:spPr>
      </p:sp>
      <p:sp>
        <p:nvSpPr>
          <p:cNvPr id="40" name="Shape 38"/>
          <p:cNvSpPr/>
          <p:nvPr/>
        </p:nvSpPr>
        <p:spPr>
          <a:xfrm>
            <a:off x="10881360" y="2971800"/>
            <a:ext cx="640080" cy="0"/>
          </a:xfrm>
          <a:prstGeom prst="line">
            <a:avLst/>
          </a:prstGeom>
          <a:noFill/>
          <a:ln w="25400">
            <a:solidFill>
              <a:srgbClr val="D0312D"/>
            </a:solidFill>
            <a:prstDash val="solid"/>
          </a:ln>
        </p:spPr>
      </p:sp>
      <p:sp>
        <p:nvSpPr>
          <p:cNvPr id="41" name="Shape 39"/>
          <p:cNvSpPr/>
          <p:nvPr/>
        </p:nvSpPr>
        <p:spPr>
          <a:xfrm>
            <a:off x="11521440" y="2971800"/>
            <a:ext cx="0" cy="777240"/>
          </a:xfrm>
          <a:prstGeom prst="line">
            <a:avLst/>
          </a:prstGeom>
          <a:noFill/>
          <a:ln w="25400">
            <a:solidFill>
              <a:srgbClr val="D0312D"/>
            </a:solidFill>
            <a:prstDash val="solid"/>
          </a:ln>
        </p:spPr>
      </p:sp>
      <p:sp>
        <p:nvSpPr>
          <p:cNvPr id="42" name="Shape 40"/>
          <p:cNvSpPr/>
          <p:nvPr/>
        </p:nvSpPr>
        <p:spPr>
          <a:xfrm flipH="1">
            <a:off x="868680" y="3749040"/>
            <a:ext cx="10652760" cy="0"/>
          </a:xfrm>
          <a:prstGeom prst="line">
            <a:avLst/>
          </a:prstGeom>
          <a:noFill/>
          <a:ln w="25400">
            <a:solidFill>
              <a:srgbClr val="D0312D"/>
            </a:solidFill>
            <a:prstDash val="solid"/>
          </a:ln>
        </p:spPr>
      </p:sp>
      <p:sp>
        <p:nvSpPr>
          <p:cNvPr id="43" name="Shape 41"/>
          <p:cNvSpPr/>
          <p:nvPr/>
        </p:nvSpPr>
        <p:spPr>
          <a:xfrm>
            <a:off x="868680" y="3749040"/>
            <a:ext cx="0" cy="1188720"/>
          </a:xfrm>
          <a:prstGeom prst="line">
            <a:avLst/>
          </a:prstGeom>
          <a:noFill/>
          <a:ln w="25400">
            <a:solidFill>
              <a:srgbClr val="D0312D"/>
            </a:solidFill>
            <a:prstDash val="solid"/>
            <a:tailEnd type="triangle"/>
          </a:ln>
        </p:spPr>
      </p:sp>
      <p:sp>
        <p:nvSpPr>
          <p:cNvPr id="44" name="Text 42"/>
          <p:cNvSpPr txBox="1"/>
          <p:nvPr/>
        </p:nvSpPr>
        <p:spPr>
          <a:xfrm>
            <a:off x="5029200" y="3502152"/>
            <a:ext cx="6400800" cy="228600"/>
          </a:xfrm>
          <a:prstGeom prst="rect">
            <a:avLst/>
          </a:prstGeom>
          <a:noFill/>
          <a:ln/>
        </p:spPr>
        <p:txBody>
          <a:bodyPr wrap="square" lIns="0" tIns="0" rIns="0" bIns="0" rtlCol="0" anchor="t"/>
          <a:lstStyle/>
          <a:p>
            <a:pPr algn="r" indent="0" marL="0">
              <a:buNone/>
            </a:pPr>
            <a:r>
              <a:rPr lang="en-US" sz="1200" i="1" dirty="0">
                <a:solidFill>
                  <a:srgbClr val="D0312D"/>
                </a:solidFill>
                <a:latin typeface="Arial" pitchFamily="34" charset="0"/>
                <a:ea typeface="Arial" pitchFamily="34" charset="-122"/>
                <a:cs typeface="Arial" pitchFamily="34" charset="-120"/>
              </a:rPr>
              <a:t>reduces deficit — remaining gap to span, missing load capacity</a:t>
            </a:r>
            <a:endParaRPr lang="en-US" sz="1200" dirty="0"/>
          </a:p>
        </p:txBody>
      </p:sp>
      <p:sp>
        <p:nvSpPr>
          <p:cNvPr id="45" name="Shape 43"/>
          <p:cNvSpPr/>
          <p:nvPr/>
        </p:nvSpPr>
        <p:spPr>
          <a:xfrm>
            <a:off x="9601200" y="4983480"/>
            <a:ext cx="1783080" cy="0"/>
          </a:xfrm>
          <a:prstGeom prst="line">
            <a:avLst/>
          </a:prstGeom>
          <a:noFill/>
          <a:ln w="25400">
            <a:solidFill>
              <a:srgbClr val="3F7FC4"/>
            </a:solidFill>
            <a:prstDash val="solid"/>
          </a:ln>
        </p:spPr>
      </p:sp>
      <p:sp>
        <p:nvSpPr>
          <p:cNvPr id="46" name="Shape 44"/>
          <p:cNvSpPr/>
          <p:nvPr/>
        </p:nvSpPr>
        <p:spPr>
          <a:xfrm flipV="1">
            <a:off x="11384280" y="4096512"/>
            <a:ext cx="0" cy="886968"/>
          </a:xfrm>
          <a:prstGeom prst="line">
            <a:avLst/>
          </a:prstGeom>
          <a:noFill/>
          <a:ln w="25400">
            <a:solidFill>
              <a:srgbClr val="3F7FC4"/>
            </a:solidFill>
            <a:prstDash val="solid"/>
          </a:ln>
        </p:spPr>
      </p:sp>
      <p:sp>
        <p:nvSpPr>
          <p:cNvPr id="47" name="Shape 45"/>
          <p:cNvSpPr/>
          <p:nvPr/>
        </p:nvSpPr>
        <p:spPr>
          <a:xfrm flipH="1">
            <a:off x="1234440" y="4096512"/>
            <a:ext cx="10149840" cy="0"/>
          </a:xfrm>
          <a:prstGeom prst="line">
            <a:avLst/>
          </a:prstGeom>
          <a:noFill/>
          <a:ln w="25400">
            <a:solidFill>
              <a:srgbClr val="3F7FC4"/>
            </a:solidFill>
            <a:prstDash val="solid"/>
          </a:ln>
        </p:spPr>
      </p:sp>
      <p:sp>
        <p:nvSpPr>
          <p:cNvPr id="48" name="Shape 46"/>
          <p:cNvSpPr/>
          <p:nvPr/>
        </p:nvSpPr>
        <p:spPr>
          <a:xfrm flipV="1">
            <a:off x="1234440" y="3108960"/>
            <a:ext cx="0" cy="987552"/>
          </a:xfrm>
          <a:prstGeom prst="line">
            <a:avLst/>
          </a:prstGeom>
          <a:noFill/>
          <a:ln w="25400">
            <a:solidFill>
              <a:srgbClr val="3F7FC4"/>
            </a:solidFill>
            <a:prstDash val="solid"/>
            <a:tailEnd type="triangle"/>
          </a:ln>
        </p:spPr>
      </p:sp>
      <p:sp>
        <p:nvSpPr>
          <p:cNvPr id="49" name="Text 47"/>
          <p:cNvSpPr txBox="1"/>
          <p:nvPr/>
        </p:nvSpPr>
        <p:spPr>
          <a:xfrm>
            <a:off x="4846320" y="3840480"/>
            <a:ext cx="6446520" cy="228600"/>
          </a:xfrm>
          <a:prstGeom prst="rect">
            <a:avLst/>
          </a:prstGeom>
          <a:noFill/>
          <a:ln/>
        </p:spPr>
        <p:txBody>
          <a:bodyPr wrap="square" lIns="0" tIns="0" rIns="0" bIns="0" rtlCol="0" anchor="t"/>
          <a:lstStyle/>
          <a:p>
            <a:pPr algn="r" indent="0" marL="0">
              <a:buNone/>
            </a:pPr>
            <a:r>
              <a:rPr lang="en-US" sz="1200" i="1" dirty="0">
                <a:solidFill>
                  <a:srgbClr val="3F7FC4"/>
                </a:solidFill>
                <a:latin typeface="Arial" pitchFamily="34" charset="0"/>
                <a:ea typeface="Arial" pitchFamily="34" charset="-122"/>
                <a:cs typeface="Arial" pitchFamily="34" charset="-120"/>
              </a:rPr>
              <a:t>reduces excess — idle, redundant grips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11247120" cy="502920"/>
          </a:xfrm>
          <a:prstGeom prst="rect">
            <a:avLst/>
          </a:prstGeom>
          <a:noFill/>
          <a:ln/>
        </p:spPr>
        <p:txBody>
          <a:bodyPr wrap="square" lIns="0" tIns="0" rIns="0" bIns="0" rtlCol="0" anchor="t"/>
          <a:lstStyle/>
          <a:p>
            <a:pPr algn="l" indent="0" marL="0">
              <a:buNone/>
            </a:pPr>
            <a:r>
              <a:rPr lang="en-US" sz="3000" b="1" dirty="0">
                <a:solidFill>
                  <a:srgbClr val="111111"/>
                </a:solidFill>
                <a:latin typeface="Arial" pitchFamily="34" charset="0"/>
                <a:ea typeface="Arial" pitchFamily="34" charset="-122"/>
                <a:cs typeface="Arial" pitchFamily="34" charset="-120"/>
              </a:rPr>
              <a:t>Mapping the Rule onto BARI2D</a:t>
            </a:r>
            <a:endParaRPr lang="en-US" sz="3000" dirty="0"/>
          </a:p>
        </p:txBody>
      </p:sp>
      <p:sp>
        <p:nvSpPr>
          <p:cNvPr id="3" name="Text 1"/>
          <p:cNvSpPr txBox="1"/>
          <p:nvPr/>
        </p:nvSpPr>
        <p:spPr>
          <a:xfrm>
            <a:off x="457200" y="841248"/>
            <a:ext cx="11247120" cy="274320"/>
          </a:xfrm>
          <a:prstGeom prst="rect">
            <a:avLst/>
          </a:prstGeom>
          <a:noFill/>
          <a:ln/>
        </p:spPr>
        <p:txBody>
          <a:bodyPr wrap="square" lIns="0" tIns="0" rIns="0" bIns="0" rtlCol="0" anchor="t"/>
          <a:lstStyle/>
          <a:p>
            <a:pPr algn="l" indent="0" marL="0">
              <a:buNone/>
            </a:pPr>
            <a:r>
              <a:rPr lang="en-US" sz="1300" dirty="0">
                <a:solidFill>
                  <a:srgbClr val="6B6B6B"/>
                </a:solidFill>
                <a:latin typeface="Arial" pitchFamily="34" charset="0"/>
                <a:ea typeface="Arial" pitchFamily="34" charset="-122"/>
                <a:cs typeface="Arial" pitchFamily="34" charset="-120"/>
              </a:rPr>
              <a:t>Each decision uses only local sensing; each outcome is one discrete action.</a:t>
            </a:r>
            <a:endParaRPr lang="en-US" sz="13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7200" y="1417320"/>
          <a:ext cx="7040880" cy="914400"/>
        </p:xfrm>
        <a:graphic>
          <a:graphicData uri="http://schemas.openxmlformats.org/drawingml/2006/table">
            <a:tbl>
              <a:tblPr/>
              <a:tblGrid>
                <a:gridCol w="2011680"/>
                <a:gridCol w="2743200"/>
                <a:gridCol w="2286000"/>
              </a:tblGrid>
              <a:tr h="457200">
                <a:tc>
                  <a:txBody>
                    <a:bodyPr/>
                    <a:lstStyle/>
                    <a:p>
                      <a:pPr indent="0" marL="0">
                        <a:buNone/>
                      </a:pPr>
                      <a:r>
                        <a:rPr lang="en-US" sz="1150" b="1" dirty="0">
                          <a:solidFill>
                            <a:srgbClr val="FFFFFF"/>
                          </a:solidFill>
                          <a:latin typeface="Arial" pitchFamily="34" charset="0"/>
                          <a:ea typeface="Arial" pitchFamily="34" charset="-122"/>
                          <a:cs typeface="Arial" pitchFamily="34" charset="-120"/>
                        </a:rPr>
                        <a:t>Army-ant rule</a:t>
                      </a:r>
                      <a:endParaRPr lang="en-US" sz="1150" dirty="0">
                        <a:latin typeface="Arial" charset="0"/>
                        <a:ea typeface="Arial" charset="0"/>
                        <a:cs typeface="Arial" charset="0"/>
                      </a:endParaRPr>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36454F"/>
                    </a:solidFill>
                  </a:tcPr>
                </a:tc>
                <a:tc>
                  <a:txBody>
                    <a:bodyPr/>
                    <a:lstStyle/>
                    <a:p>
                      <a:pPr indent="0" marL="0">
                        <a:buNone/>
                      </a:pPr>
                      <a:r>
                        <a:rPr lang="en-US" sz="1150" b="1" dirty="0">
                          <a:solidFill>
                            <a:srgbClr val="FFFFFF"/>
                          </a:solidFill>
                          <a:latin typeface="Arial" pitchFamily="34" charset="0"/>
                          <a:ea typeface="Arial" pitchFamily="34" charset="-122"/>
                          <a:cs typeface="Arial" pitchFamily="34" charset="-120"/>
                        </a:rPr>
                        <a:t>BARI2D local sensing</a:t>
                      </a:r>
                      <a:endParaRPr lang="en-US" sz="1150" dirty="0">
                        <a:latin typeface="Arial" charset="0"/>
                        <a:ea typeface="Arial" charset="0"/>
                        <a:cs typeface="Arial" charset="0"/>
                      </a:endParaRPr>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36454F"/>
                    </a:solidFill>
                  </a:tcPr>
                </a:tc>
                <a:tc>
                  <a:txBody>
                    <a:bodyPr/>
                    <a:lstStyle/>
                    <a:p>
                      <a:pPr indent="0" marL="0">
                        <a:buNone/>
                      </a:pPr>
                      <a:r>
                        <a:rPr lang="en-US" sz="1150" b="1" dirty="0">
                          <a:solidFill>
                            <a:srgbClr val="FFFFFF"/>
                          </a:solidFill>
                          <a:latin typeface="Arial" pitchFamily="34" charset="0"/>
                          <a:ea typeface="Arial" pitchFamily="34" charset="-122"/>
                          <a:cs typeface="Arial" pitchFamily="34" charset="-120"/>
                        </a:rPr>
                        <a:t>BARI2D action</a:t>
                      </a:r>
                      <a:endParaRPr lang="en-US" sz="1150" dirty="0">
                        <a:latin typeface="Arial" charset="0"/>
                        <a:ea typeface="Arial" charset="0"/>
                        <a:cs typeface="Arial" charset="0"/>
                      </a:endParaRPr>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36454F"/>
                    </a:solidFill>
                  </a:tcPr>
                </a:tc>
              </a:tr>
              <a:tr h="548640">
                <a:tc>
                  <a:txBody>
                    <a:bodyPr/>
                    <a:lstStyle/>
                    <a:p>
                      <a:pPr indent="0" marL="0">
                        <a:buNone/>
                      </a:pPr>
                      <a:r>
                        <a:rPr lang="en-US" sz="1150" dirty="0">
                          <a:solidFill>
                            <a:srgbClr val="111111"/>
                          </a:solidFill>
                          <a:latin typeface="Arial" pitchFamily="34" charset="0"/>
                          <a:ea typeface="Arial" pitchFamily="34" charset="-122"/>
                          <a:cs typeface="Arial" pitchFamily="34" charset="-120"/>
                        </a:rPr>
                        <a:t>Walk on trail</a:t>
                      </a:r>
                      <a:endParaRPr lang="en-US" sz="1150" dirty="0">
                        <a:latin typeface="Arial" charset="0"/>
                        <a:ea typeface="Arial" charset="0"/>
                        <a:cs typeface="Arial" charset="0"/>
                      </a:endParaRPr>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50" dirty="0">
                          <a:solidFill>
                            <a:srgbClr val="111111"/>
                          </a:solidFill>
                          <a:latin typeface="Arial" pitchFamily="34" charset="0"/>
                          <a:ea typeface="Arial" pitchFamily="34" charset="-122"/>
                          <a:cs typeface="Arial" pitchFamily="34" charset="-120"/>
                        </a:rPr>
                        <a:t>beacon, IR</a:t>
                      </a:r>
                      <a:endParaRPr lang="en-US" sz="1150" dirty="0">
                        <a:latin typeface="Arial" charset="0"/>
                        <a:ea typeface="Arial" charset="0"/>
                        <a:cs typeface="Arial" charset="0"/>
                      </a:endParaRPr>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50" dirty="0">
                          <a:solidFill>
                            <a:srgbClr val="111111"/>
                          </a:solidFill>
                          <a:latin typeface="Arial" pitchFamily="34" charset="0"/>
                          <a:ea typeface="Arial" pitchFamily="34" charset="-122"/>
                          <a:cs typeface="Arial" pitchFamily="34" charset="-120"/>
                        </a:rPr>
                        <a:t>FORWARD / turn</a:t>
                      </a:r>
                      <a:endParaRPr lang="en-US" sz="1150" dirty="0">
                        <a:latin typeface="Arial" charset="0"/>
                        <a:ea typeface="Arial" charset="0"/>
                        <a:cs typeface="Arial" charset="0"/>
                      </a:endParaRPr>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685800">
                <a:tc>
                  <a:txBody>
                    <a:bodyPr/>
                    <a:lstStyle/>
                    <a:p>
                      <a:pPr indent="0" marL="0">
                        <a:buNone/>
                      </a:pPr>
                      <a:r>
                        <a:rPr lang="en-US" sz="1150" dirty="0">
                          <a:solidFill>
                            <a:srgbClr val="111111"/>
                          </a:solidFill>
                          <a:latin typeface="Arial" pitchFamily="34" charset="0"/>
                          <a:ea typeface="Arial" pitchFamily="34" charset="-122"/>
                          <a:cs typeface="Arial" pitchFamily="34" charset="-120"/>
                        </a:rPr>
                        <a:t>Sense bridge performance</a:t>
                      </a:r>
                      <a:endParaRPr lang="en-US" sz="1150" dirty="0">
                        <a:latin typeface="Arial" charset="0"/>
                        <a:ea typeface="Arial" charset="0"/>
                        <a:cs typeface="Arial" charset="0"/>
                      </a:endParaRPr>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50" dirty="0">
                          <a:solidFill>
                            <a:srgbClr val="111111"/>
                          </a:solidFill>
                          <a:latin typeface="Arial" pitchFamily="34" charset="0"/>
                          <a:ea typeface="Arial" pitchFamily="34" charset="-122"/>
                          <a:cs typeface="Arial" pitchFamily="34" charset="-120"/>
                        </a:rPr>
                        <a:t>front / down IR: gap ahead; cue: robot ahead anchored</a:t>
                      </a:r>
                      <a:endParaRPr lang="en-US" sz="1150" dirty="0">
                        <a:latin typeface="Arial" charset="0"/>
                        <a:ea typeface="Arial" charset="0"/>
                        <a:cs typeface="Arial" charset="0"/>
                      </a:endParaRPr>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50" dirty="0">
                          <a:solidFill>
                            <a:srgbClr val="6B6B6B"/>
                          </a:solidFill>
                          <a:latin typeface="Arial" pitchFamily="34" charset="0"/>
                          <a:ea typeface="Arial" pitchFamily="34" charset="-122"/>
                          <a:cs typeface="Arial" pitchFamily="34" charset="-120"/>
                        </a:rPr>
                        <a:t>—</a:t>
                      </a:r>
                      <a:endParaRPr lang="en-US" sz="1150" dirty="0">
                        <a:latin typeface="Arial" charset="0"/>
                        <a:ea typeface="Arial" charset="0"/>
                        <a:cs typeface="Arial" charset="0"/>
                      </a:endParaRPr>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548640">
                <a:tc>
                  <a:txBody>
                    <a:bodyPr/>
                    <a:lstStyle/>
                    <a:p>
                      <a:pPr indent="0" marL="0">
                        <a:buNone/>
                      </a:pPr>
                      <a:r>
                        <a:rPr lang="en-US" sz="1150" dirty="0">
                          <a:solidFill>
                            <a:srgbClr val="111111"/>
                          </a:solidFill>
                          <a:latin typeface="Arial" pitchFamily="34" charset="0"/>
                          <a:ea typeface="Arial" pitchFamily="34" charset="-122"/>
                          <a:cs typeface="Arial" pitchFamily="34" charset="-120"/>
                        </a:rPr>
                        <a:t>Not very high → cross</a:t>
                      </a:r>
                      <a:endParaRPr lang="en-US" sz="1150" dirty="0">
                        <a:latin typeface="Arial" charset="0"/>
                        <a:ea typeface="Arial" charset="0"/>
                        <a:cs typeface="Arial" charset="0"/>
                      </a:endParaRPr>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50" dirty="0">
                          <a:solidFill>
                            <a:srgbClr val="111111"/>
                          </a:solidFill>
                          <a:latin typeface="Arial" pitchFamily="34" charset="0"/>
                          <a:ea typeface="Arial" pitchFamily="34" charset="-122"/>
                          <a:cs typeface="Arial" pitchFamily="34" charset="-120"/>
                        </a:rPr>
                        <a:t>frontier is further ahead</a:t>
                      </a:r>
                      <a:endParaRPr lang="en-US" sz="1150" dirty="0">
                        <a:latin typeface="Arial" charset="0"/>
                        <a:ea typeface="Arial" charset="0"/>
                        <a:cs typeface="Arial" charset="0"/>
                      </a:endParaRPr>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50" dirty="0">
                          <a:solidFill>
                            <a:srgbClr val="111111"/>
                          </a:solidFill>
                          <a:latin typeface="Arial" pitchFamily="34" charset="0"/>
                          <a:ea typeface="Arial" pitchFamily="34" charset="-122"/>
                          <a:cs typeface="Arial" pitchFamily="34" charset="-120"/>
                        </a:rPr>
                        <a:t>CLIMB, FORWARD to front end</a:t>
                      </a:r>
                      <a:endParaRPr lang="en-US" sz="1150" dirty="0">
                        <a:latin typeface="Arial" charset="0"/>
                        <a:ea typeface="Arial" charset="0"/>
                        <a:cs typeface="Arial" charset="0"/>
                      </a:endParaRPr>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685800">
                <a:tc>
                  <a:txBody>
                    <a:bodyPr/>
                    <a:lstStyle/>
                    <a:p>
                      <a:pPr indent="0" marL="0">
                        <a:buNone/>
                      </a:pPr>
                      <a:r>
                        <a:rPr lang="en-US" sz="1150" b="1" dirty="0">
                          <a:solidFill>
                            <a:srgbClr val="111111"/>
                          </a:solidFill>
                          <a:latin typeface="Arial" pitchFamily="34" charset="0"/>
                          <a:ea typeface="Arial" pitchFamily="34" charset="-122"/>
                          <a:cs typeface="Arial" pitchFamily="34" charset="-120"/>
                        </a:rPr>
                        <a:t>Very high → join</a:t>
                      </a:r>
                      <a:endParaRPr lang="en-US" sz="1150" dirty="0">
                        <a:latin typeface="Arial" charset="0"/>
                        <a:ea typeface="Arial" charset="0"/>
                        <a:cs typeface="Arial" charset="0"/>
                      </a:endParaRPr>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50" dirty="0">
                          <a:solidFill>
                            <a:srgbClr val="111111"/>
                          </a:solidFill>
                          <a:latin typeface="Arial" pitchFamily="34" charset="0"/>
                          <a:ea typeface="Arial" pitchFamily="34" charset="-122"/>
                          <a:cs typeface="Arial" pitchFamily="34" charset="-120"/>
                        </a:rPr>
                        <a:t>gap open right in front of me</a:t>
                      </a:r>
                      <a:endParaRPr lang="en-US" sz="1150" dirty="0">
                        <a:latin typeface="Arial" charset="0"/>
                        <a:ea typeface="Arial" charset="0"/>
                        <a:cs typeface="Arial" charset="0"/>
                      </a:endParaRPr>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50" b="1" dirty="0">
                          <a:solidFill>
                            <a:srgbClr val="111111"/>
                          </a:solidFill>
                          <a:latin typeface="Arial" pitchFamily="34" charset="0"/>
                          <a:ea typeface="Arial" pitchFamily="34" charset="-122"/>
                          <a:cs typeface="Arial" pitchFamily="34" charset="-120"/>
                        </a:rPr>
                        <a:t>ANCHOR (bank edge / grip-and-extend)</a:t>
                      </a:r>
                      <a:endParaRPr lang="en-US" sz="1150" dirty="0">
                        <a:latin typeface="Arial" charset="0"/>
                        <a:ea typeface="Arial" charset="0"/>
                        <a:cs typeface="Arial" charset="0"/>
                      </a:endParaRPr>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685800">
                <a:tc>
                  <a:txBody>
                    <a:bodyPr/>
                    <a:lstStyle/>
                    <a:p>
                      <a:pPr indent="0" marL="0">
                        <a:buNone/>
                      </a:pPr>
                      <a:r>
                        <a:rPr lang="en-US" sz="1150" dirty="0">
                          <a:solidFill>
                            <a:srgbClr val="111111"/>
                          </a:solidFill>
                          <a:latin typeface="Arial" pitchFamily="34" charset="0"/>
                          <a:ea typeface="Arial" pitchFamily="34" charset="-122"/>
                          <a:cs typeface="Arial" pitchFamily="34" charset="-120"/>
                        </a:rPr>
                        <a:t>Sense deficit</a:t>
                      </a:r>
                      <a:endParaRPr lang="en-US" sz="1150" dirty="0">
                        <a:latin typeface="Arial" charset="0"/>
                        <a:ea typeface="Arial" charset="0"/>
                        <a:cs typeface="Arial" charset="0"/>
                      </a:endParaRPr>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50" dirty="0">
                          <a:solidFill>
                            <a:srgbClr val="111111"/>
                          </a:solidFill>
                          <a:latin typeface="Arial" pitchFamily="34" charset="0"/>
                          <a:ea typeface="Arial" pitchFamily="34" charset="-122"/>
                          <a:cs typeface="Arial" pitchFamily="34" charset="-120"/>
                        </a:rPr>
                        <a:t>strain through my anchor; traffic over me</a:t>
                      </a:r>
                      <a:endParaRPr lang="en-US" sz="1150" dirty="0">
                        <a:latin typeface="Arial" charset="0"/>
                        <a:ea typeface="Arial" charset="0"/>
                        <a:cs typeface="Arial" charset="0"/>
                      </a:endParaRPr>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50" dirty="0">
                          <a:solidFill>
                            <a:srgbClr val="6B6B6B"/>
                          </a:solidFill>
                          <a:latin typeface="Arial" pitchFamily="34" charset="0"/>
                          <a:ea typeface="Arial" pitchFamily="34" charset="-122"/>
                          <a:cs typeface="Arial" pitchFamily="34" charset="-120"/>
                        </a:rPr>
                        <a:t>—</a:t>
                      </a:r>
                      <a:endParaRPr lang="en-US" sz="1150" dirty="0">
                        <a:latin typeface="Arial" charset="0"/>
                        <a:ea typeface="Arial" charset="0"/>
                        <a:cs typeface="Arial" charset="0"/>
                      </a:endParaRPr>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685800">
                <a:tc>
                  <a:txBody>
                    <a:bodyPr/>
                    <a:lstStyle/>
                    <a:p>
                      <a:pPr indent="0" marL="0">
                        <a:buNone/>
                      </a:pPr>
                      <a:r>
                        <a:rPr lang="en-US" sz="1150" b="1" dirty="0">
                          <a:solidFill>
                            <a:srgbClr val="111111"/>
                          </a:solidFill>
                          <a:latin typeface="Arial" pitchFamily="34" charset="0"/>
                          <a:ea typeface="Arial" pitchFamily="34" charset="-122"/>
                          <a:cs typeface="Arial" pitchFamily="34" charset="-120"/>
                        </a:rPr>
                        <a:t>Large excess → leave</a:t>
                      </a:r>
                      <a:endParaRPr lang="en-US" sz="1150" dirty="0">
                        <a:latin typeface="Arial" charset="0"/>
                        <a:ea typeface="Arial" charset="0"/>
                        <a:cs typeface="Arial" charset="0"/>
                      </a:endParaRPr>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50" dirty="0">
                          <a:solidFill>
                            <a:srgbClr val="111111"/>
                          </a:solidFill>
                          <a:latin typeface="Arial" pitchFamily="34" charset="0"/>
                          <a:ea typeface="Arial" pitchFamily="34" charset="-122"/>
                          <a:cs typeface="Arial" pitchFamily="34" charset="-120"/>
                        </a:rPr>
                        <a:t>strain ≈ 0 and no traffic for T steps</a:t>
                      </a:r>
                      <a:endParaRPr lang="en-US" sz="1150" dirty="0">
                        <a:latin typeface="Arial" charset="0"/>
                        <a:ea typeface="Arial" charset="0"/>
                        <a:cs typeface="Arial" charset="0"/>
                      </a:endParaRPr>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50" b="1" dirty="0">
                          <a:solidFill>
                            <a:srgbClr val="111111"/>
                          </a:solidFill>
                          <a:latin typeface="Arial" pitchFamily="34" charset="0"/>
                          <a:ea typeface="Arial" pitchFamily="34" charset="-122"/>
                          <a:cs typeface="Arial" pitchFamily="34" charset="-120"/>
                        </a:rPr>
                        <a:t>RELEASE</a:t>
                      </a:r>
                      <a:endParaRPr lang="en-US" sz="1150" dirty="0">
                        <a:latin typeface="Arial" charset="0"/>
                        <a:ea typeface="Arial" charset="0"/>
                        <a:cs typeface="Arial" charset="0"/>
                      </a:endParaRPr>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548640">
                <a:tc>
                  <a:txBody>
                    <a:bodyPr/>
                    <a:lstStyle/>
                    <a:p>
                      <a:pPr indent="0" marL="0">
                        <a:buNone/>
                      </a:pPr>
                      <a:r>
                        <a:rPr lang="en-US" sz="1150" dirty="0">
                          <a:solidFill>
                            <a:srgbClr val="111111"/>
                          </a:solidFill>
                          <a:latin typeface="Arial" pitchFamily="34" charset="0"/>
                          <a:ea typeface="Arial" pitchFamily="34" charset="-122"/>
                          <a:cs typeface="Arial" pitchFamily="34" charset="-120"/>
                        </a:rPr>
                        <a:t>Otherwise → stay</a:t>
                      </a:r>
                      <a:endParaRPr lang="en-US" sz="1150" dirty="0">
                        <a:latin typeface="Arial" charset="0"/>
                        <a:ea typeface="Arial" charset="0"/>
                        <a:cs typeface="Arial" charset="0"/>
                      </a:endParaRPr>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50" dirty="0">
                          <a:solidFill>
                            <a:srgbClr val="111111"/>
                          </a:solidFill>
                          <a:latin typeface="Arial" pitchFamily="34" charset="0"/>
                          <a:ea typeface="Arial" pitchFamily="34" charset="-122"/>
                          <a:cs typeface="Arial" pitchFamily="34" charset="-120"/>
                        </a:rPr>
                        <a:t>load or traffic present</a:t>
                      </a:r>
                      <a:endParaRPr lang="en-US" sz="1150" dirty="0">
                        <a:latin typeface="Arial" charset="0"/>
                        <a:ea typeface="Arial" charset="0"/>
                        <a:cs typeface="Arial" charset="0"/>
                      </a:endParaRPr>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50" dirty="0">
                          <a:solidFill>
                            <a:srgbClr val="111111"/>
                          </a:solidFill>
                          <a:latin typeface="Arial" pitchFamily="34" charset="0"/>
                          <a:ea typeface="Arial" pitchFamily="34" charset="-122"/>
                          <a:cs typeface="Arial" pitchFamily="34" charset="-120"/>
                        </a:rPr>
                        <a:t>keep anchor (IDLE)</a:t>
                      </a:r>
                      <a:endParaRPr lang="en-US" sz="1150" dirty="0">
                        <a:latin typeface="Arial" charset="0"/>
                        <a:ea typeface="Arial" charset="0"/>
                        <a:cs typeface="Arial" charset="0"/>
                      </a:endParaRPr>
                    </a:p>
                  </a:txBody>
                  <a:tcPr marL="73152" marR="73152" marT="73152" marB="7315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bl>
          </a:graphicData>
        </a:graphic>
      </p:graphicFrame>
      <p:sp>
        <p:nvSpPr>
          <p:cNvPr id="5" name="Shape 2"/>
          <p:cNvSpPr/>
          <p:nvPr/>
        </p:nvSpPr>
        <p:spPr>
          <a:xfrm>
            <a:off x="7863840" y="1417320"/>
            <a:ext cx="3867912" cy="1508760"/>
          </a:xfrm>
          <a:prstGeom prst="rect">
            <a:avLst/>
          </a:prstGeom>
          <a:solidFill>
            <a:srgbClr val="FBEAEA"/>
          </a:solidFill>
          <a:ln w="12700">
            <a:solidFill>
              <a:srgbClr val="FBEAEA"/>
            </a:solidFill>
            <a:prstDash val="solid"/>
          </a:ln>
        </p:spPr>
      </p:sp>
      <p:sp>
        <p:nvSpPr>
          <p:cNvPr id="6" name="Text 3"/>
          <p:cNvSpPr txBox="1"/>
          <p:nvPr/>
        </p:nvSpPr>
        <p:spPr>
          <a:xfrm>
            <a:off x="8092440" y="1600200"/>
            <a:ext cx="3410712" cy="320040"/>
          </a:xfrm>
          <a:prstGeom prst="rect">
            <a:avLst/>
          </a:prstGeom>
          <a:noFill/>
          <a:ln/>
        </p:spPr>
        <p:txBody>
          <a:bodyPr wrap="square" lIns="0" tIns="0" rIns="0" bIns="0" rtlCol="0" anchor="t"/>
          <a:lstStyle/>
          <a:p>
            <a:pPr algn="l" indent="0" marL="0">
              <a:buNone/>
            </a:pPr>
            <a:r>
              <a:rPr lang="en-US" sz="1800" b="1" dirty="0">
                <a:solidFill>
                  <a:srgbClr val="D0312D"/>
                </a:solidFill>
                <a:latin typeface="Arial" pitchFamily="34" charset="0"/>
                <a:ea typeface="Arial" pitchFamily="34" charset="-122"/>
                <a:cs typeface="Arial" pitchFamily="34" charset="-120"/>
              </a:rPr>
              <a:t>Deficit — joining reduces it</a:t>
            </a:r>
            <a:endParaRPr lang="en-US" sz="1800" dirty="0"/>
          </a:p>
        </p:txBody>
      </p:sp>
      <p:sp>
        <p:nvSpPr>
          <p:cNvPr id="7" name="Text 4"/>
          <p:cNvSpPr txBox="1"/>
          <p:nvPr/>
        </p:nvSpPr>
        <p:spPr>
          <a:xfrm>
            <a:off x="8092440" y="1984248"/>
            <a:ext cx="3410712" cy="77724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111111"/>
                </a:solidFill>
                <a:latin typeface="Arial" pitchFamily="34" charset="0"/>
                <a:ea typeface="Arial" pitchFamily="34" charset="-122"/>
                <a:cs typeface="Arial" pitchFamily="34" charset="-120"/>
              </a:rPr>
              <a:t>Remaining gap to span: front end → far bank (1 − span progress)</a:t>
            </a:r>
            <a:endParaRPr lang="en-US" sz="1200" dirty="0"/>
          </a:p>
          <a:p>
            <a:pPr marL="342900" indent="-342900">
              <a:spcAft>
                <a:spcPts val="400"/>
              </a:spcAft>
              <a:buSzPct val="100000"/>
              <a:buChar char="•"/>
            </a:pPr>
            <a:r>
              <a:rPr lang="en-US" sz="1200" dirty="0">
                <a:solidFill>
                  <a:srgbClr val="111111"/>
                </a:solidFill>
                <a:latin typeface="Arial" pitchFamily="34" charset="0"/>
                <a:ea typeface="Arial" pitchFamily="34" charset="-122"/>
                <a:cs typeface="Arial" pitchFamily="34" charset="-120"/>
              </a:rPr>
              <a:t>Missing load capacity: max(0, target load − LP max load)</a:t>
            </a:r>
            <a:endParaRPr lang="en-US" sz="1200" dirty="0"/>
          </a:p>
        </p:txBody>
      </p:sp>
      <p:sp>
        <p:nvSpPr>
          <p:cNvPr id="8" name="Shape 5"/>
          <p:cNvSpPr/>
          <p:nvPr/>
        </p:nvSpPr>
        <p:spPr>
          <a:xfrm>
            <a:off x="7863840" y="3108960"/>
            <a:ext cx="3867912" cy="1280160"/>
          </a:xfrm>
          <a:prstGeom prst="rect">
            <a:avLst/>
          </a:prstGeom>
          <a:solidFill>
            <a:srgbClr val="EAF1FA"/>
          </a:solidFill>
          <a:ln w="12700">
            <a:solidFill>
              <a:srgbClr val="EAF1FA"/>
            </a:solidFill>
            <a:prstDash val="solid"/>
          </a:ln>
        </p:spPr>
      </p:sp>
      <p:sp>
        <p:nvSpPr>
          <p:cNvPr id="9" name="Text 6"/>
          <p:cNvSpPr txBox="1"/>
          <p:nvPr/>
        </p:nvSpPr>
        <p:spPr>
          <a:xfrm>
            <a:off x="8092440" y="3291840"/>
            <a:ext cx="3410712" cy="320040"/>
          </a:xfrm>
          <a:prstGeom prst="rect">
            <a:avLst/>
          </a:prstGeom>
          <a:noFill/>
          <a:ln/>
        </p:spPr>
        <p:txBody>
          <a:bodyPr wrap="square" lIns="0" tIns="0" rIns="0" bIns="0" rtlCol="0" anchor="t"/>
          <a:lstStyle/>
          <a:p>
            <a:pPr algn="l" indent="0" marL="0">
              <a:buNone/>
            </a:pPr>
            <a:r>
              <a:rPr lang="en-US" sz="1800" b="1" dirty="0">
                <a:solidFill>
                  <a:srgbClr val="3F7FC4"/>
                </a:solidFill>
                <a:latin typeface="Arial" pitchFamily="34" charset="0"/>
                <a:ea typeface="Arial" pitchFamily="34" charset="-122"/>
                <a:cs typeface="Arial" pitchFamily="34" charset="-120"/>
              </a:rPr>
              <a:t>Excess — leaving reduces it</a:t>
            </a:r>
            <a:endParaRPr lang="en-US" sz="1800" dirty="0"/>
          </a:p>
        </p:txBody>
      </p:sp>
      <p:sp>
        <p:nvSpPr>
          <p:cNvPr id="10" name="Text 7"/>
          <p:cNvSpPr txBox="1"/>
          <p:nvPr/>
        </p:nvSpPr>
        <p:spPr>
          <a:xfrm>
            <a:off x="8092440" y="3675888"/>
            <a:ext cx="3410712" cy="54864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111111"/>
                </a:solidFill>
                <a:latin typeface="Arial" pitchFamily="34" charset="0"/>
                <a:ea typeface="Arial" pitchFamily="34" charset="-122"/>
                <a:cs typeface="Arial" pitchFamily="34" charset="-120"/>
              </a:rPr>
              <a:t>Anchored robots carrying no load and no traffic</a:t>
            </a:r>
            <a:endParaRPr lang="en-US" sz="1200" dirty="0"/>
          </a:p>
          <a:p>
            <a:pPr marL="342900" indent="-342900">
              <a:spcAft>
                <a:spcPts val="400"/>
              </a:spcAft>
              <a:buSzPct val="100000"/>
              <a:buChar char="•"/>
            </a:pPr>
            <a:r>
              <a:rPr lang="en-US" sz="1200" dirty="0">
                <a:solidFill>
                  <a:srgbClr val="111111"/>
                </a:solidFill>
                <a:latin typeface="Arial" pitchFamily="34" charset="0"/>
                <a:ea typeface="Arial" pitchFamily="34" charset="-122"/>
                <a:cs typeface="Arial" pitchFamily="34" charset="-120"/>
              </a:rPr>
              <a:t>e.g. side-by-side edge grips seen in v3</a:t>
            </a:r>
            <a:endParaRPr lang="en-US" sz="1200" dirty="0"/>
          </a:p>
        </p:txBody>
      </p:sp>
      <p:sp>
        <p:nvSpPr>
          <p:cNvPr id="11" name="Shape 8"/>
          <p:cNvSpPr/>
          <p:nvPr/>
        </p:nvSpPr>
        <p:spPr>
          <a:xfrm>
            <a:off x="7863840" y="4572000"/>
            <a:ext cx="3867912" cy="1691640"/>
          </a:xfrm>
          <a:prstGeom prst="rect">
            <a:avLst/>
          </a:prstGeom>
          <a:solidFill>
            <a:srgbClr val="F2F2F2"/>
          </a:solidFill>
          <a:ln w="12700">
            <a:solidFill>
              <a:srgbClr val="F2F2F2"/>
            </a:solidFill>
            <a:prstDash val="solid"/>
          </a:ln>
        </p:spPr>
      </p:sp>
      <p:sp>
        <p:nvSpPr>
          <p:cNvPr id="12" name="Text 9"/>
          <p:cNvSpPr txBox="1"/>
          <p:nvPr/>
        </p:nvSpPr>
        <p:spPr>
          <a:xfrm>
            <a:off x="8092440" y="4754880"/>
            <a:ext cx="3410712" cy="320040"/>
          </a:xfrm>
          <a:prstGeom prst="rect">
            <a:avLst/>
          </a:prstGeom>
          <a:noFill/>
          <a:ln/>
        </p:spPr>
        <p:txBody>
          <a:bodyPr wrap="square" lIns="0" tIns="0" rIns="0" bIns="0" rtlCol="0" anchor="t"/>
          <a:lstStyle/>
          <a:p>
            <a:pPr algn="l" indent="0" marL="0">
              <a:buNone/>
            </a:pPr>
            <a:r>
              <a:rPr lang="en-US" sz="1800" b="1" dirty="0">
                <a:solidFill>
                  <a:srgbClr val="111111"/>
                </a:solidFill>
                <a:latin typeface="Arial" pitchFamily="34" charset="0"/>
                <a:ea typeface="Arial" pitchFamily="34" charset="-122"/>
                <a:cs typeface="Arial" pitchFamily="34" charset="-120"/>
              </a:rPr>
              <a:t>Status in the code</a:t>
            </a:r>
            <a:endParaRPr lang="en-US" sz="1800" dirty="0"/>
          </a:p>
        </p:txBody>
      </p:sp>
      <p:sp>
        <p:nvSpPr>
          <p:cNvPr id="13" name="Text 10"/>
          <p:cNvSpPr txBox="1"/>
          <p:nvPr/>
        </p:nvSpPr>
        <p:spPr>
          <a:xfrm>
            <a:off x="8092440" y="5138928"/>
            <a:ext cx="3410712" cy="96012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111111"/>
                </a:solidFill>
                <a:latin typeface="Arial" pitchFamily="34" charset="0"/>
                <a:ea typeface="Arial" pitchFamily="34" charset="-122"/>
                <a:cs typeface="Arial" pitchFamily="34" charset="-120"/>
              </a:rPr>
              <a:t>Available: IR, strain, structure cues (v4), ANCHOR / RELEASE / CLIMB</a:t>
            </a:r>
            <a:endParaRPr lang="en-US" sz="1200" dirty="0"/>
          </a:p>
          <a:p>
            <a:pPr marL="342900" indent="-342900">
              <a:spcAft>
                <a:spcPts val="400"/>
              </a:spcAft>
              <a:buSzPct val="100000"/>
              <a:buChar char="•"/>
            </a:pPr>
            <a:r>
              <a:rPr lang="en-US" sz="1200" dirty="0">
                <a:solidFill>
                  <a:srgbClr val="111111"/>
                </a:solidFill>
                <a:latin typeface="Arial" pitchFamily="34" charset="0"/>
                <a:ea typeface="Arial" pitchFamily="34" charset="-122"/>
                <a:cs typeface="Arial" pitchFamily="34" charset="-120"/>
              </a:rPr>
              <a:t>Traffic: auxiliary target only, not a direct input</a:t>
            </a:r>
            <a:endParaRPr lang="en-US" sz="1200" dirty="0"/>
          </a:p>
          <a:p>
            <a:pPr marL="342900" indent="-342900">
              <a:spcAft>
                <a:spcPts val="400"/>
              </a:spcAft>
              <a:buSzPct val="100000"/>
              <a:buChar char="•"/>
            </a:pPr>
            <a:r>
              <a:rPr lang="en-US" sz="1200" dirty="0">
                <a:solidFill>
                  <a:srgbClr val="111111"/>
                </a:solidFill>
                <a:latin typeface="Arial" pitchFamily="34" charset="0"/>
                <a:ea typeface="Arial" pitchFamily="34" charset="-122"/>
                <a:cs typeface="Arial" pitchFamily="34" charset="-120"/>
              </a:rPr>
              <a:t>T-step persistence: GRU memory or an explicit counter</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Ant-Inspired Join/Leave Rule for BARI2D</dc:title>
  <dc:subject>PptxGenJS Presentation</dc:subject>
  <dc:creator>PptxGenJS</dc:creator>
  <cp:lastModifiedBy>PptxGenJS</cp:lastModifiedBy>
  <cp:revision>1</cp:revision>
  <dcterms:created xsi:type="dcterms:W3CDTF">2026-09-29T02:42:54Z</dcterms:created>
  <dcterms:modified xsi:type="dcterms:W3CDTF">2026-09-29T02:42:54Z</dcterms:modified>
</cp:coreProperties>
</file>